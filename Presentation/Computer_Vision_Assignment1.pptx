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72" r:id="rId5"/>
    <p:sldMasterId id="2147483670" r:id="rId6"/>
    <p:sldMasterId id="2147483687" r:id="rId7"/>
  </p:sldMasterIdLst>
  <p:notesMasterIdLst>
    <p:notesMasterId r:id="rId20"/>
  </p:notesMasterIdLst>
  <p:handoutMasterIdLst>
    <p:handoutMasterId r:id="rId21"/>
  </p:handoutMasterIdLst>
  <p:sldIdLst>
    <p:sldId id="332" r:id="rId8"/>
    <p:sldId id="349" r:id="rId9"/>
    <p:sldId id="319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02" r:id="rId19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5263"/>
    <a:srgbClr val="E0CC94"/>
    <a:srgbClr val="70B6AD"/>
    <a:srgbClr val="1448FF"/>
    <a:srgbClr val="140F50"/>
    <a:srgbClr val="EFF0F0"/>
    <a:srgbClr val="28404F"/>
    <a:srgbClr val="4F81B5"/>
    <a:srgbClr val="71848F"/>
    <a:srgbClr val="054A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1" autoAdjust="0"/>
    <p:restoredTop sz="95310" autoAdjust="0"/>
  </p:normalViewPr>
  <p:slideViewPr>
    <p:cSldViewPr snapToGrid="0" snapToObjects="1">
      <p:cViewPr varScale="1">
        <p:scale>
          <a:sx n="139" d="100"/>
          <a:sy n="139" d="100"/>
        </p:scale>
        <p:origin x="776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203" d="100"/>
          <a:sy n="203" d="100"/>
        </p:scale>
        <p:origin x="7656" y="1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F6F4C1-4114-4918-8993-473D0CD5D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17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EDB437F-59FE-4A6C-A802-8DC8214269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43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6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62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87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65400"/>
            <a:ext cx="6786563" cy="29670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EAAFC098-C02F-9AF6-D335-ABF4DC8E2D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0521A-A469-4C8C-CC18-D141A4A187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8845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+ Image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59F870-C9DC-B994-D416-F8036DDDE93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1644" y="858839"/>
            <a:ext cx="4021494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6564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98611-05E5-3C58-6976-C402E44F5C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6C71A2-DB3B-7E3C-CEB1-309123E104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7" y="1212980"/>
            <a:ext cx="1762179" cy="190213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ED555E62-9954-370D-93EE-6E25E80F0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18" y="2298215"/>
            <a:ext cx="5896591" cy="706243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800" spc="30" baseline="0"/>
            </a:lvl1pPr>
          </a:lstStyle>
          <a:p>
            <a:r>
              <a:rPr lang="en-GB" dirty="0"/>
              <a:t>Divider title here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B95D9-19B0-A38C-196A-C9FAF09E3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708" y="1322516"/>
            <a:ext cx="953682" cy="81250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800" b="1" i="0" spc="-100" baseline="0">
                <a:latin typeface="Franklin Gothic Demi Cond" panose="020B0603020102020204" pitchFamily="34" charset="0"/>
              </a:defRPr>
            </a:lvl1pPr>
          </a:lstStyle>
          <a:p>
            <a:pPr lvl="0"/>
            <a:r>
              <a:rPr lang="en-GB" kern="0" dirty="0"/>
              <a:t>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4876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69B99A2-FCDD-5902-BFD9-294E7BE4E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661" y="827479"/>
            <a:ext cx="8038563" cy="3283272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400" spc="30" baseline="0"/>
            </a:lvl1pPr>
          </a:lstStyle>
          <a:p>
            <a:r>
              <a:rPr lang="en-GB" dirty="0"/>
              <a:t>Large statement – as appropriate in </a:t>
            </a:r>
            <a:br>
              <a:rPr lang="en-GB" dirty="0"/>
            </a:br>
            <a:r>
              <a:rPr lang="en-GB" dirty="0"/>
              <a:t>key statements and quotes, a key</a:t>
            </a:r>
            <a:br>
              <a:rPr lang="en-GB" dirty="0"/>
            </a:br>
            <a:r>
              <a:rPr lang="en-GB" dirty="0"/>
              <a:t>word or short phrase may be in another colour for emphasis.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424-9FDB-4BC9-F026-99764529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29259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Lime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710D29-8FDE-D921-0D43-770033C84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1717DE-D314-E6D0-15BF-02BA45D21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925" y="868149"/>
            <a:ext cx="7104063" cy="32258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1CD38-8875-7F6A-99D6-37478E27722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236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+ Image - Lime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B23301-70DF-3F63-BCED-DA71FA8C1C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1644" y="858839"/>
            <a:ext cx="4021494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4792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or Diagram - no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1C3A61-2390-9132-8B81-AA738364A2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6E7548E-CC21-1955-9266-E702601FC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add optional footnote, delete if not required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AA5FF7-E2A3-857F-69BE-1E450282D9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0"/>
            <a:ext cx="9144000" cy="4264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GB" dirty="0"/>
              <a:t>Drag to insert image/chart/diagram or click icons below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62658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or Diagram - with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B7DE-429E-3917-ED2C-03535E430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217" y="171520"/>
            <a:ext cx="4034485" cy="864178"/>
          </a:xfrm>
        </p:spPr>
        <p:txBody>
          <a:bodyPr/>
          <a:lstStyle/>
          <a:p>
            <a:r>
              <a:rPr lang="en-GB" dirty="0"/>
              <a:t>Click to add heading</a:t>
            </a: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ED14B4E-D640-322D-1D48-021319DC50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add optional footnote, delete if not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F40294-C814-063D-2A43-E8DB14A05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2530" y="184421"/>
            <a:ext cx="3437617" cy="10658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3pPr>
              <a:defRPr sz="1100">
                <a:latin typeface="Georgia" panose="02040502050405020303" pitchFamily="18" charset="0"/>
              </a:defRPr>
            </a:lvl3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2"/>
            <a:r>
              <a:rPr lang="en-GB" dirty="0"/>
              <a:t>Bullet point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0560318-7321-E90D-0986-C2F92697DD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4129B2-E89D-A8CD-1C03-8AD49AECF6F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16218" y="1316038"/>
            <a:ext cx="8224546" cy="2947987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GB" dirty="0"/>
              <a:t>Drag to insert image/chart/diagram or click icons below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1791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no Image –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9FD767-AE4F-7D27-092F-2BE70CAFF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7605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73449B55-E9E7-5A13-D626-B9512C83B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0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65400"/>
            <a:ext cx="6786563" cy="296703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64302-3E98-D08D-CD67-78E1B772D4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0015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7EEF5-EF33-D6E6-BED1-A03E315F23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FA922-DAD3-9818-6826-7165ABA00C0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0" y="858838"/>
            <a:ext cx="4021138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1067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96C71A2-DB3B-7E3C-CEB1-309123E104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7" y="1212980"/>
            <a:ext cx="1762179" cy="190213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ED555E62-9954-370D-93EE-6E25E80F0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18" y="2298215"/>
            <a:ext cx="5896591" cy="706243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800" spc="30" baseline="0"/>
            </a:lvl1pPr>
          </a:lstStyle>
          <a:p>
            <a:r>
              <a:rPr lang="en-GB" dirty="0"/>
              <a:t>Divider title here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B95D9-19B0-A38C-196A-C9FAF09E3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708" y="1322516"/>
            <a:ext cx="870610" cy="812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4800" b="1" i="0" spc="-100" baseline="0">
                <a:solidFill>
                  <a:schemeClr val="bg1"/>
                </a:solidFill>
                <a:latin typeface="Franklin Gothic Demi Cond" panose="020B0603020102020204" pitchFamily="34" charset="0"/>
              </a:defRPr>
            </a:lvl1pPr>
          </a:lstStyle>
          <a:p>
            <a:pPr lvl="0"/>
            <a:r>
              <a:rPr lang="en-GB" kern="0" dirty="0"/>
              <a:t>01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339700-8A87-A56F-068A-B414F7B8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3404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69B99A2-FCDD-5902-BFD9-294E7BE4E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661" y="827479"/>
            <a:ext cx="8007827" cy="3283272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400" spc="30" baseline="0"/>
            </a:lvl1pPr>
          </a:lstStyle>
          <a:p>
            <a:r>
              <a:rPr lang="en-GB" dirty="0"/>
              <a:t>Large statement – as appropriate in </a:t>
            </a:r>
            <a:br>
              <a:rPr lang="en-GB" dirty="0"/>
            </a:br>
            <a:r>
              <a:rPr lang="en-GB" dirty="0"/>
              <a:t>key statements and quotes, a key</a:t>
            </a:r>
            <a:br>
              <a:rPr lang="en-GB" dirty="0"/>
            </a:br>
            <a:r>
              <a:rPr lang="en-GB" dirty="0"/>
              <a:t>word or short phrase may be in another colour for emphasis.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9576D6-8BDC-98B3-FD5A-1B5D926A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9296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1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299AEC20-E69A-76BA-0914-D0136AF0B595}"/>
              </a:ext>
            </a:extLst>
          </p:cNvPr>
          <p:cNvSpPr/>
          <p:nvPr userDrawn="1"/>
        </p:nvSpPr>
        <p:spPr bwMode="auto">
          <a:xfrm>
            <a:off x="2488117" y="-1"/>
            <a:ext cx="6655873" cy="5143501"/>
          </a:xfrm>
          <a:custGeom>
            <a:avLst/>
            <a:gdLst>
              <a:gd name="connsiteX0" fmla="*/ 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0 w 3413156"/>
              <a:gd name="connsiteY4" fmla="*/ 0 h 3576119"/>
              <a:gd name="connsiteX0" fmla="*/ 206419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064190 w 3413156"/>
              <a:gd name="connsiteY4" fmla="*/ 0 h 3576119"/>
              <a:gd name="connsiteX0" fmla="*/ 1954632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1954632 w 3413156"/>
              <a:gd name="connsiteY4" fmla="*/ 0 h 3576119"/>
              <a:gd name="connsiteX0" fmla="*/ 2152679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152679 w 3413156"/>
              <a:gd name="connsiteY4" fmla="*/ 0 h 3576119"/>
              <a:gd name="connsiteX0" fmla="*/ 1773439 w 3033916"/>
              <a:gd name="connsiteY0" fmla="*/ 0 h 3576119"/>
              <a:gd name="connsiteX1" fmla="*/ 3033916 w 3033916"/>
              <a:gd name="connsiteY1" fmla="*/ 0 h 3576119"/>
              <a:gd name="connsiteX2" fmla="*/ 3033916 w 3033916"/>
              <a:gd name="connsiteY2" fmla="*/ 3576119 h 3576119"/>
              <a:gd name="connsiteX3" fmla="*/ 0 w 3033916"/>
              <a:gd name="connsiteY3" fmla="*/ 3576119 h 3576119"/>
              <a:gd name="connsiteX4" fmla="*/ 1773439 w 3033916"/>
              <a:gd name="connsiteY4" fmla="*/ 0 h 3576119"/>
              <a:gd name="connsiteX0" fmla="*/ 1832432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32432 w 3092909"/>
              <a:gd name="connsiteY4" fmla="*/ 0 h 3576119"/>
              <a:gd name="connsiteX0" fmla="*/ 1899853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99853 w 3092909"/>
              <a:gd name="connsiteY4" fmla="*/ 0 h 3576119"/>
              <a:gd name="connsiteX0" fmla="*/ 1954632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54632 w 3092909"/>
              <a:gd name="connsiteY4" fmla="*/ 6294 h 3576119"/>
              <a:gd name="connsiteX0" fmla="*/ 1946204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6204 w 3092909"/>
              <a:gd name="connsiteY4" fmla="*/ 6294 h 3576119"/>
              <a:gd name="connsiteX0" fmla="*/ 1947854 w 3092909"/>
              <a:gd name="connsiteY0" fmla="*/ 1366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7854 w 3092909"/>
              <a:gd name="connsiteY4" fmla="*/ 1366 h 3576119"/>
              <a:gd name="connsiteX0" fmla="*/ 1952802 w 3097857"/>
              <a:gd name="connsiteY0" fmla="*/ 1366 h 3576119"/>
              <a:gd name="connsiteX1" fmla="*/ 3097857 w 3097857"/>
              <a:gd name="connsiteY1" fmla="*/ 0 h 3576119"/>
              <a:gd name="connsiteX2" fmla="*/ 3097857 w 3097857"/>
              <a:gd name="connsiteY2" fmla="*/ 3576119 h 3576119"/>
              <a:gd name="connsiteX3" fmla="*/ 0 w 3097857"/>
              <a:gd name="connsiteY3" fmla="*/ 3573655 h 3576119"/>
              <a:gd name="connsiteX4" fmla="*/ 1952802 w 3097857"/>
              <a:gd name="connsiteY4" fmla="*/ 1366 h 3576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7857" h="3576119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84BA5-875A-D74A-7BD5-38732DDD1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20F0F-DA8D-15A9-C6E9-20829F6D3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08140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2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299AEC20-E69A-76BA-0914-D0136AF0B595}"/>
              </a:ext>
            </a:extLst>
          </p:cNvPr>
          <p:cNvSpPr/>
          <p:nvPr userDrawn="1"/>
        </p:nvSpPr>
        <p:spPr bwMode="auto">
          <a:xfrm>
            <a:off x="2488117" y="-1"/>
            <a:ext cx="6655873" cy="5143501"/>
          </a:xfrm>
          <a:custGeom>
            <a:avLst/>
            <a:gdLst>
              <a:gd name="connsiteX0" fmla="*/ 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0 w 3413156"/>
              <a:gd name="connsiteY4" fmla="*/ 0 h 3576119"/>
              <a:gd name="connsiteX0" fmla="*/ 206419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064190 w 3413156"/>
              <a:gd name="connsiteY4" fmla="*/ 0 h 3576119"/>
              <a:gd name="connsiteX0" fmla="*/ 1954632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1954632 w 3413156"/>
              <a:gd name="connsiteY4" fmla="*/ 0 h 3576119"/>
              <a:gd name="connsiteX0" fmla="*/ 2152679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152679 w 3413156"/>
              <a:gd name="connsiteY4" fmla="*/ 0 h 3576119"/>
              <a:gd name="connsiteX0" fmla="*/ 1773439 w 3033916"/>
              <a:gd name="connsiteY0" fmla="*/ 0 h 3576119"/>
              <a:gd name="connsiteX1" fmla="*/ 3033916 w 3033916"/>
              <a:gd name="connsiteY1" fmla="*/ 0 h 3576119"/>
              <a:gd name="connsiteX2" fmla="*/ 3033916 w 3033916"/>
              <a:gd name="connsiteY2" fmla="*/ 3576119 h 3576119"/>
              <a:gd name="connsiteX3" fmla="*/ 0 w 3033916"/>
              <a:gd name="connsiteY3" fmla="*/ 3576119 h 3576119"/>
              <a:gd name="connsiteX4" fmla="*/ 1773439 w 3033916"/>
              <a:gd name="connsiteY4" fmla="*/ 0 h 3576119"/>
              <a:gd name="connsiteX0" fmla="*/ 1832432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32432 w 3092909"/>
              <a:gd name="connsiteY4" fmla="*/ 0 h 3576119"/>
              <a:gd name="connsiteX0" fmla="*/ 1899853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99853 w 3092909"/>
              <a:gd name="connsiteY4" fmla="*/ 0 h 3576119"/>
              <a:gd name="connsiteX0" fmla="*/ 1954632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54632 w 3092909"/>
              <a:gd name="connsiteY4" fmla="*/ 6294 h 3576119"/>
              <a:gd name="connsiteX0" fmla="*/ 1946204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6204 w 3092909"/>
              <a:gd name="connsiteY4" fmla="*/ 6294 h 3576119"/>
              <a:gd name="connsiteX0" fmla="*/ 1947854 w 3092909"/>
              <a:gd name="connsiteY0" fmla="*/ 1366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7854 w 3092909"/>
              <a:gd name="connsiteY4" fmla="*/ 1366 h 3576119"/>
              <a:gd name="connsiteX0" fmla="*/ 1952802 w 3097857"/>
              <a:gd name="connsiteY0" fmla="*/ 1366 h 3576119"/>
              <a:gd name="connsiteX1" fmla="*/ 3097857 w 3097857"/>
              <a:gd name="connsiteY1" fmla="*/ 0 h 3576119"/>
              <a:gd name="connsiteX2" fmla="*/ 3097857 w 3097857"/>
              <a:gd name="connsiteY2" fmla="*/ 3576119 h 3576119"/>
              <a:gd name="connsiteX3" fmla="*/ 0 w 3097857"/>
              <a:gd name="connsiteY3" fmla="*/ 3573655 h 3576119"/>
              <a:gd name="connsiteX4" fmla="*/ 1952802 w 3097857"/>
              <a:gd name="connsiteY4" fmla="*/ 1366 h 3576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7857" h="3576119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84BA5-875A-D74A-7BD5-38732DDD1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E2F907-E909-A175-78A6-75C3EC200F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81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1 - Sand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AC4FFD99-1A12-7365-A732-1AD2E9BF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DC92CB0-F542-88C1-CCB5-F5AAFD238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202294-1095-48AD-0DEA-06B6C6EEB4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49704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2 - Sand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AC4FFD99-1A12-7365-A732-1AD2E9BF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DC92CB0-F542-88C1-CCB5-F5AAFD238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F49EAE-07C5-4961-EE2B-CB61098B0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58503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9CFD129-1E84-D3A9-D2DF-2DEC99059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802931" cy="73155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44332F21-7BDB-D056-0E1A-62F4BF700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7856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1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3544" cy="73129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A721DE-5D37-9BCC-D371-574C6E5659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3869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2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3544" cy="73129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3E165-1D48-55A4-852A-CD47843B8C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01800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Bright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28D05E4-9E0C-8925-BA90-CAC43ADCD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4186238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4E81525E-3A88-AAC3-269E-4286D3653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905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9FD767-AE4F-7D27-092F-2BE70CAFF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7605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73449B55-E9E7-5A13-D626-B9512C83B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543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971800" y="290514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BB730-96BC-DAF5-7747-B3407F7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FE83-9705-00DD-1DD1-27D362C1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17" y="107238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EE0B90A-D564-CD99-7A5C-25B9544D8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7" r:id="rId2"/>
    <p:sldLayoutId id="2147483702" r:id="rId3"/>
    <p:sldLayoutId id="2147483668" r:id="rId4"/>
    <p:sldLayoutId id="2147483666" r:id="rId5"/>
    <p:sldLayoutId id="2147483661" r:id="rId6"/>
    <p:sldLayoutId id="2147483701" r:id="rId7"/>
    <p:sldLayoutId id="2147483669" r:id="rId8"/>
    <p:sldLayoutId id="2147483700" r:id="rId9"/>
    <p:sldLayoutId id="2147483708" r:id="rId10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="1" i="0" spc="-40" baseline="0">
          <a:solidFill>
            <a:srgbClr val="140F50"/>
          </a:solidFill>
          <a:latin typeface="Franklin Gothic Demi Cond" panose="020B0603020102020204" pitchFamily="34" charset="0"/>
          <a:ea typeface="Franklin Gothic Demi Cond" panose="020B0603020102020204" pitchFamily="34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0" indent="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None/>
        <a:defRPr sz="1200" b="0" i="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1pPr>
      <a:lvl2pPr marL="7938" indent="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SzPct val="110000"/>
        <a:buFont typeface="Arial" panose="020B0604020202020204" pitchFamily="34" charset="0"/>
        <a:buNone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2pPr>
      <a:lvl3pPr marL="222250" indent="-22225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•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3pPr>
      <a:lvl4pPr marL="222250" indent="-214313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–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4pPr>
      <a:lvl5pPr marL="239713" indent="-239713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»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971800" y="290514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BB730-96BC-DAF5-7747-B3407F7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FE83-9705-00DD-1DD1-27D362C1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17" y="1100382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B064F-F544-3C75-FE0D-F329C12CE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37550" y="4730314"/>
            <a:ext cx="36585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04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2" r:id="rId3"/>
    <p:sldLayoutId id="2147483693" r:id="rId4"/>
    <p:sldLayoutId id="2147483649" r:id="rId5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="1" i="0" spc="-40" baseline="0">
          <a:solidFill>
            <a:schemeClr val="bg1"/>
          </a:solidFill>
          <a:latin typeface="Franklin Gothic Demi Cond" panose="020B0603020102020204" pitchFamily="34" charset="0"/>
          <a:ea typeface="Franklin Gothic Demi Cond" panose="020B0603020102020204" pitchFamily="34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0" indent="0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None/>
        <a:defRPr sz="1200" b="0" i="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1pPr>
      <a:lvl2pPr marL="7938" indent="0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SzPct val="110000"/>
        <a:buFont typeface="Arial" panose="020B0604020202020204" pitchFamily="34" charset="0"/>
        <a:buNone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2pPr>
      <a:lvl3pPr marL="222250" indent="-2143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•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3pPr>
      <a:lvl4pPr marL="222250" indent="-2143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–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4pPr>
      <a:lvl5pPr marL="239713" indent="-2397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»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8B126-B6E8-5D02-ECA8-665E6F6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F7CE-40BE-91A1-F30E-4345B832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3525"/>
            <a:ext cx="7886700" cy="1957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subheading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7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58" r:id="rId2"/>
    <p:sldLayoutId id="2147483696" r:id="rId3"/>
    <p:sldLayoutId id="2147483698" r:id="rId4"/>
    <p:sldLayoutId id="2147483690" r:id="rId5"/>
  </p:sldLayoutIdLst>
  <p:hf hdr="0" ftr="0" dt="0"/>
  <p:txStyles>
    <p:titleStyle>
      <a:lvl1pPr algn="l" defTabSz="914400" rtl="0" eaLnBrk="1" latinLnBrk="0" hangingPunct="1">
        <a:lnSpc>
          <a:spcPts val="4900"/>
        </a:lnSpc>
        <a:spcBef>
          <a:spcPct val="0"/>
        </a:spcBef>
        <a:buNone/>
        <a:defRPr sz="5200" b="1" i="0" kern="1200" spc="-40" baseline="0">
          <a:solidFill>
            <a:srgbClr val="140F50"/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 spc="-30" baseline="0">
          <a:solidFill>
            <a:schemeClr val="tx2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7937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4pPr>
      <a:lvl5pPr marL="7937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8B126-B6E8-5D02-ECA8-665E6F6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F7CE-40BE-91A1-F30E-4345B832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3525"/>
            <a:ext cx="7886700" cy="225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subheading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35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9" r:id="rId2"/>
    <p:sldLayoutId id="2147483689" r:id="rId3"/>
    <p:sldLayoutId id="2147483691" r:id="rId4"/>
  </p:sldLayoutIdLst>
  <p:hf hdr="0" ftr="0" dt="0"/>
  <p:txStyles>
    <p:titleStyle>
      <a:lvl1pPr algn="l" defTabSz="914400" rtl="0" eaLnBrk="1" latinLnBrk="0" hangingPunct="1">
        <a:lnSpc>
          <a:spcPts val="5000"/>
        </a:lnSpc>
        <a:spcBef>
          <a:spcPct val="0"/>
        </a:spcBef>
        <a:buNone/>
        <a:defRPr sz="5200" b="1" i="0" kern="1200" spc="-40" baseline="0">
          <a:solidFill>
            <a:schemeClr val="bg1"/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200" b="0" i="0" kern="1200" spc="-30" baseline="0">
          <a:solidFill>
            <a:schemeClr val="accent2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0751E2-9888-EDC7-0631-E42B85F2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27" y="762511"/>
            <a:ext cx="8612683" cy="1437619"/>
          </a:xfrm>
        </p:spPr>
        <p:txBody>
          <a:bodyPr>
            <a:noAutofit/>
          </a:bodyPr>
          <a:lstStyle/>
          <a:p>
            <a:r>
              <a:rPr lang="en-US" sz="4400" dirty="0"/>
              <a:t>ARTI 6001: Computer Vision and Multimodal Machine </a:t>
            </a:r>
            <a:r>
              <a:rPr lang="en-US" sz="4400" dirty="0" err="1"/>
              <a:t>Leraning</a:t>
            </a:r>
            <a:endParaRPr lang="en-US" sz="4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EFA513C-B966-FA9D-ECA0-26AF66BA1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AFCDDD-A48C-D25B-C85B-52E078540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064281"/>
              </p:ext>
            </p:extLst>
          </p:nvPr>
        </p:nvGraphicFramePr>
        <p:xfrm>
          <a:off x="306051" y="3436109"/>
          <a:ext cx="6468587" cy="701040"/>
        </p:xfrm>
        <a:graphic>
          <a:graphicData uri="http://schemas.openxmlformats.org/drawingml/2006/table">
            <a:tbl>
              <a:tblPr/>
              <a:tblGrid>
                <a:gridCol w="6468587">
                  <a:extLst>
                    <a:ext uri="{9D8B030D-6E8A-4147-A177-3AD203B41FA5}">
                      <a16:colId xmlns:a16="http://schemas.microsoft.com/office/drawing/2014/main" val="1445361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4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223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2CE8D-CDF9-450E-9D00-15021231F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Assignment 1 </a:t>
            </a:r>
            <a:br>
              <a:rPr lang="en-AU" dirty="0"/>
            </a:br>
            <a:r>
              <a:rPr lang="en-AU" dirty="0"/>
              <a:t>Christo Joshy               a1962973</a:t>
            </a:r>
          </a:p>
        </p:txBody>
      </p:sp>
    </p:spTree>
    <p:extLst>
      <p:ext uri="{BB962C8B-B14F-4D97-AF65-F5344CB8AC3E}">
        <p14:creationId xmlns:p14="http://schemas.microsoft.com/office/powerpoint/2010/main" val="58379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850C-5B07-76EE-1972-5B56E250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CF7988-04E9-DEA8-3D97-96FBC4FE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384" y="695416"/>
            <a:ext cx="5274759" cy="2098076"/>
          </a:xfrm>
        </p:spPr>
        <p:txBody>
          <a:bodyPr/>
          <a:lstStyle/>
          <a:p>
            <a:r>
              <a:rPr lang="en-AU" sz="1800" dirty="0">
                <a:solidFill>
                  <a:schemeClr val="bg1"/>
                </a:solidFill>
                <a:latin typeface="Arial "/>
              </a:rPr>
              <a:t>Content: </a:t>
            </a:r>
            <a:br>
              <a:rPr lang="en-AU" sz="1800" dirty="0">
                <a:solidFill>
                  <a:schemeClr val="bg1"/>
                </a:solidFill>
                <a:latin typeface="Arial "/>
              </a:rPr>
            </a:br>
            <a:r>
              <a:rPr lang="en-AU" sz="1800" dirty="0">
                <a:solidFill>
                  <a:schemeClr val="bg1"/>
                </a:solidFill>
                <a:latin typeface="Arial "/>
              </a:rPr>
              <a:t>-Problem: Motion blur degrades detection performance </a:t>
            </a:r>
            <a:br>
              <a:rPr lang="en-AU" sz="1800" dirty="0">
                <a:solidFill>
                  <a:schemeClr val="bg1"/>
                </a:solidFill>
                <a:latin typeface="Arial "/>
              </a:rPr>
            </a:br>
            <a:r>
              <a:rPr lang="en-AU" sz="1800" dirty="0">
                <a:solidFill>
                  <a:schemeClr val="bg1"/>
                </a:solidFill>
                <a:latin typeface="Arial "/>
              </a:rPr>
              <a:t>- Dataset: GoPro official split — 1111 test, 2103 train </a:t>
            </a:r>
            <a:br>
              <a:rPr lang="en-AU" sz="1800" dirty="0">
                <a:solidFill>
                  <a:schemeClr val="bg1"/>
                </a:solidFill>
                <a:latin typeface="Arial "/>
              </a:rPr>
            </a:br>
            <a:r>
              <a:rPr lang="en-AU" sz="1800" dirty="0">
                <a:solidFill>
                  <a:schemeClr val="bg1"/>
                </a:solidFill>
                <a:latin typeface="Arial "/>
              </a:rPr>
              <a:t>- No data leakage between train and test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4FF7C1-E813-C950-074B-E00B2699BFE8}"/>
              </a:ext>
            </a:extLst>
          </p:cNvPr>
          <p:cNvSpPr/>
          <p:nvPr/>
        </p:nvSpPr>
        <p:spPr bwMode="auto">
          <a:xfrm>
            <a:off x="135636" y="3104388"/>
            <a:ext cx="1312164" cy="4709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Blur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5D3560-D0F3-9C3F-5504-42E143E45679}"/>
              </a:ext>
            </a:extLst>
          </p:cNvPr>
          <p:cNvCxnSpPr>
            <a:cxnSpLocks/>
          </p:cNvCxnSpPr>
          <p:nvPr/>
        </p:nvCxnSpPr>
        <p:spPr bwMode="auto">
          <a:xfrm>
            <a:off x="1478280" y="3339846"/>
            <a:ext cx="850392" cy="80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0FABFD-EA61-C469-00CD-1BD8D9DE8B30}"/>
              </a:ext>
            </a:extLst>
          </p:cNvPr>
          <p:cNvSpPr/>
          <p:nvPr/>
        </p:nvSpPr>
        <p:spPr bwMode="auto">
          <a:xfrm>
            <a:off x="1962150" y="3118104"/>
            <a:ext cx="1356360" cy="4709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MPRnet</a:t>
            </a:r>
            <a:endParaRPr kumimoji="0" lang="en-A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A100E0-E05F-7C47-E1C3-52A85001A471}"/>
              </a:ext>
            </a:extLst>
          </p:cNvPr>
          <p:cNvSpPr/>
          <p:nvPr/>
        </p:nvSpPr>
        <p:spPr bwMode="auto">
          <a:xfrm>
            <a:off x="3842766" y="3133344"/>
            <a:ext cx="1319784" cy="4709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Deblurred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9493DE-B598-5452-3C0F-8C6090C7E54C}"/>
              </a:ext>
            </a:extLst>
          </p:cNvPr>
          <p:cNvSpPr/>
          <p:nvPr/>
        </p:nvSpPr>
        <p:spPr bwMode="auto">
          <a:xfrm>
            <a:off x="5686806" y="3133344"/>
            <a:ext cx="1446276" cy="4709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YOLOv8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522106-2832-4806-F9DC-81E723E78A1E}"/>
              </a:ext>
            </a:extLst>
          </p:cNvPr>
          <p:cNvSpPr/>
          <p:nvPr/>
        </p:nvSpPr>
        <p:spPr bwMode="auto">
          <a:xfrm>
            <a:off x="7754112" y="3165348"/>
            <a:ext cx="1312164" cy="4709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sz="1800" dirty="0">
                <a:solidFill>
                  <a:schemeClr val="tx1"/>
                </a:solidFill>
                <a:latin typeface="Arial" charset="0"/>
                <a:cs typeface="Arial" charset="0"/>
              </a:rPr>
              <a:t>Results</a:t>
            </a:r>
            <a:endParaRPr kumimoji="0" lang="en-A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0D12AF-99A3-1A7D-0D0B-3C44468E1B42}"/>
              </a:ext>
            </a:extLst>
          </p:cNvPr>
          <p:cNvCxnSpPr>
            <a:cxnSpLocks/>
          </p:cNvCxnSpPr>
          <p:nvPr/>
        </p:nvCxnSpPr>
        <p:spPr bwMode="auto">
          <a:xfrm>
            <a:off x="3275076" y="3368802"/>
            <a:ext cx="567690" cy="80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9F0DE8-9D02-E43A-82A9-8C8595940C03}"/>
              </a:ext>
            </a:extLst>
          </p:cNvPr>
          <p:cNvCxnSpPr>
            <a:cxnSpLocks/>
          </p:cNvCxnSpPr>
          <p:nvPr/>
        </p:nvCxnSpPr>
        <p:spPr bwMode="auto">
          <a:xfrm>
            <a:off x="5162550" y="3378708"/>
            <a:ext cx="567690" cy="80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D3C4E4-3465-A5DB-1C4C-3D8151E251F6}"/>
              </a:ext>
            </a:extLst>
          </p:cNvPr>
          <p:cNvCxnSpPr>
            <a:cxnSpLocks/>
          </p:cNvCxnSpPr>
          <p:nvPr/>
        </p:nvCxnSpPr>
        <p:spPr bwMode="auto">
          <a:xfrm>
            <a:off x="7159752" y="3370707"/>
            <a:ext cx="567690" cy="800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A98D6EF0-764C-866A-F247-29C11264D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753" y="112218"/>
            <a:ext cx="3367605" cy="731294"/>
          </a:xfrm>
        </p:spPr>
        <p:txBody>
          <a:bodyPr/>
          <a:lstStyle/>
          <a:p>
            <a:r>
              <a:rPr lang="en-US" sz="1800" dirty="0">
                <a:latin typeface="+mj-lt"/>
              </a:rPr>
              <a:t>Image Restoration and Object Detection</a:t>
            </a:r>
            <a:endParaRPr lang="en-AU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379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8">
            <a:extLst>
              <a:ext uri="{FF2B5EF4-FFF2-40B4-BE49-F238E27FC236}">
                <a16:creationId xmlns:a16="http://schemas.microsoft.com/office/drawing/2014/main" id="{E7E82661-4B8A-BFDD-71A9-B3E0DF64EF8C}"/>
              </a:ext>
            </a:extLst>
          </p:cNvPr>
          <p:cNvSpPr txBox="1"/>
          <p:nvPr/>
        </p:nvSpPr>
        <p:spPr>
          <a:xfrm>
            <a:off x="1239314" y="1098246"/>
            <a:ext cx="7296633" cy="1004282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398621" indent="-389096">
              <a:spcBef>
                <a:spcPts val="71"/>
              </a:spcBef>
              <a:buFont typeface="Wingdings" panose="05000000000000000000" pitchFamily="2" charset="2"/>
              <a:buChar char="§"/>
              <a:tabLst>
                <a:tab pos="398621" algn="l"/>
              </a:tabLst>
            </a:pPr>
            <a:endParaRPr lang="en-AU" sz="2100" spc="-8" dirty="0"/>
          </a:p>
          <a:p>
            <a:pPr marL="398621" indent="-389096">
              <a:spcBef>
                <a:spcPts val="71"/>
              </a:spcBef>
              <a:buFont typeface="Wingdings" panose="05000000000000000000" pitchFamily="2" charset="2"/>
              <a:buChar char="§"/>
              <a:tabLst>
                <a:tab pos="398621" algn="l"/>
              </a:tabLst>
            </a:pPr>
            <a:endParaRPr lang="en-AU" sz="2100" spc="-8" dirty="0"/>
          </a:p>
          <a:p>
            <a:pPr marL="398621" indent="-389096">
              <a:spcBef>
                <a:spcPts val="71"/>
              </a:spcBef>
              <a:buFont typeface="Wingdings" panose="05000000000000000000" pitchFamily="2" charset="2"/>
              <a:buChar char="§"/>
              <a:tabLst>
                <a:tab pos="398621" algn="l"/>
              </a:tabLst>
            </a:pPr>
            <a:endParaRPr sz="2100" dirty="0">
              <a:latin typeface="+mn-lt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FEE89-A7AE-C4DC-E0D4-450CDBDE1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031" y="2770632"/>
            <a:ext cx="5358653" cy="222681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636987-27DE-5952-F366-CED9A07C3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769571"/>
              </p:ext>
            </p:extLst>
          </p:nvPr>
        </p:nvGraphicFramePr>
        <p:xfrm>
          <a:off x="1373124" y="795782"/>
          <a:ext cx="6096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662009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882608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71343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899580"/>
                  </a:ext>
                </a:extLst>
              </a:tr>
              <a:tr h="355854">
                <a:tc>
                  <a:txBody>
                    <a:bodyPr/>
                    <a:lstStyle/>
                    <a:p>
                      <a:r>
                        <a:rPr lang="en-AU" dirty="0"/>
                        <a:t>Blurred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0.7717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729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Wiener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0.7149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64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Richardson Lucy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19.96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0.7071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6179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F81F1D1-A90E-CD16-FD9A-08C6E5F73883}"/>
              </a:ext>
            </a:extLst>
          </p:cNvPr>
          <p:cNvSpPr txBox="1"/>
          <p:nvPr/>
        </p:nvSpPr>
        <p:spPr>
          <a:xfrm>
            <a:off x="192293" y="2807603"/>
            <a:ext cx="30540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Content: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- Wiener filter — PSF sizes 3-15 tested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Richardson-Lucy — iterations 5-20 tested - Both failed due to spatially varying blur assumption</a:t>
            </a:r>
            <a:endParaRPr lang="en-AU" sz="18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88F204E-7D03-E0C5-3FE8-CD2D9DC170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82757" y="138339"/>
            <a:ext cx="3308799" cy="609812"/>
          </a:xfrm>
        </p:spPr>
        <p:txBody>
          <a:bodyPr/>
          <a:lstStyle/>
          <a:p>
            <a:r>
              <a:rPr lang="en-AU" dirty="0"/>
              <a:t>Introduction and Pipeline</a:t>
            </a:r>
          </a:p>
        </p:txBody>
      </p:sp>
    </p:spTree>
    <p:extLst>
      <p:ext uri="{BB962C8B-B14F-4D97-AF65-F5344CB8AC3E}">
        <p14:creationId xmlns:p14="http://schemas.microsoft.com/office/powerpoint/2010/main" val="2126222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7413D1-BF6B-1EB5-C752-EDF103AF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03526" y="107992"/>
            <a:ext cx="2005779" cy="692108"/>
          </a:xfrm>
        </p:spPr>
        <p:txBody>
          <a:bodyPr/>
          <a:lstStyle/>
          <a:p>
            <a:r>
              <a:rPr lang="en-AU" sz="1800" dirty="0" err="1">
                <a:latin typeface="Arial "/>
              </a:rPr>
              <a:t>MPRNet</a:t>
            </a:r>
            <a:r>
              <a:rPr lang="en-AU" sz="1800" dirty="0">
                <a:latin typeface="Arial "/>
              </a:rPr>
              <a:t> Results (Quantitative)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C0A86A-2D34-50A4-A453-844749F07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86950"/>
              </p:ext>
            </p:extLst>
          </p:nvPr>
        </p:nvGraphicFramePr>
        <p:xfrm>
          <a:off x="94488" y="1371600"/>
          <a:ext cx="4418076" cy="1664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519">
                  <a:extLst>
                    <a:ext uri="{9D8B030D-6E8A-4147-A177-3AD203B41FA5}">
                      <a16:colId xmlns:a16="http://schemas.microsoft.com/office/drawing/2014/main" val="1579229853"/>
                    </a:ext>
                  </a:extLst>
                </a:gridCol>
                <a:gridCol w="1104519">
                  <a:extLst>
                    <a:ext uri="{9D8B030D-6E8A-4147-A177-3AD203B41FA5}">
                      <a16:colId xmlns:a16="http://schemas.microsoft.com/office/drawing/2014/main" val="3996894714"/>
                    </a:ext>
                  </a:extLst>
                </a:gridCol>
                <a:gridCol w="1104519">
                  <a:extLst>
                    <a:ext uri="{9D8B030D-6E8A-4147-A177-3AD203B41FA5}">
                      <a16:colId xmlns:a16="http://schemas.microsoft.com/office/drawing/2014/main" val="404861303"/>
                    </a:ext>
                  </a:extLst>
                </a:gridCol>
                <a:gridCol w="1104519">
                  <a:extLst>
                    <a:ext uri="{9D8B030D-6E8A-4147-A177-3AD203B41FA5}">
                      <a16:colId xmlns:a16="http://schemas.microsoft.com/office/drawing/2014/main" val="1943571032"/>
                    </a:ext>
                  </a:extLst>
                </a:gridCol>
              </a:tblGrid>
              <a:tr h="601133">
                <a:tc>
                  <a:txBody>
                    <a:bodyPr/>
                    <a:lstStyle/>
                    <a:p>
                      <a:r>
                        <a:rPr lang="en-AU" sz="1400" dirty="0"/>
                        <a:t>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Blurred 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err="1"/>
                        <a:t>MPRnet</a:t>
                      </a:r>
                      <a:r>
                        <a:rPr lang="en-AU" sz="1400" dirty="0"/>
                        <a:t> 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557861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r>
                        <a:rPr lang="en-AU" sz="1400" dirty="0"/>
                        <a:t>horizontal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0.8961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291751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r>
                        <a:rPr lang="en-AU" sz="1400" dirty="0"/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23.65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28.56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0.9338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04755"/>
                  </a:ext>
                </a:extLst>
              </a:tr>
              <a:tr h="354400">
                <a:tc>
                  <a:txBody>
                    <a:bodyPr/>
                    <a:lstStyle/>
                    <a:p>
                      <a:r>
                        <a:rPr lang="en-AU" sz="1400" dirty="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19.69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0.8865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8524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9CFC45-20AD-DE53-7086-D471A25E9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896921"/>
              </p:ext>
            </p:extLst>
          </p:nvPr>
        </p:nvGraphicFramePr>
        <p:xfrm>
          <a:off x="5006340" y="1390074"/>
          <a:ext cx="3945636" cy="1664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09">
                  <a:extLst>
                    <a:ext uri="{9D8B030D-6E8A-4147-A177-3AD203B41FA5}">
                      <a16:colId xmlns:a16="http://schemas.microsoft.com/office/drawing/2014/main" val="1579229853"/>
                    </a:ext>
                  </a:extLst>
                </a:gridCol>
                <a:gridCol w="986409">
                  <a:extLst>
                    <a:ext uri="{9D8B030D-6E8A-4147-A177-3AD203B41FA5}">
                      <a16:colId xmlns:a16="http://schemas.microsoft.com/office/drawing/2014/main" val="3996894714"/>
                    </a:ext>
                  </a:extLst>
                </a:gridCol>
                <a:gridCol w="986409">
                  <a:extLst>
                    <a:ext uri="{9D8B030D-6E8A-4147-A177-3AD203B41FA5}">
                      <a16:colId xmlns:a16="http://schemas.microsoft.com/office/drawing/2014/main" val="404861303"/>
                    </a:ext>
                  </a:extLst>
                </a:gridCol>
                <a:gridCol w="986409">
                  <a:extLst>
                    <a:ext uri="{9D8B030D-6E8A-4147-A177-3AD203B41FA5}">
                      <a16:colId xmlns:a16="http://schemas.microsoft.com/office/drawing/2014/main" val="1943571032"/>
                    </a:ext>
                  </a:extLst>
                </a:gridCol>
              </a:tblGrid>
              <a:tr h="739704">
                <a:tc>
                  <a:txBody>
                    <a:bodyPr/>
                    <a:lstStyle/>
                    <a:p>
                      <a:r>
                        <a:rPr lang="en-AU" sz="1400" dirty="0"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/>
                        <a:t>Blurred PSNR</a:t>
                      </a:r>
                    </a:p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 err="1"/>
                        <a:t>MPRnet</a:t>
                      </a:r>
                      <a:r>
                        <a:rPr lang="en-AU" sz="1400" dirty="0"/>
                        <a:t> PSNR</a:t>
                      </a:r>
                    </a:p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/>
                        <a:t>SSIM</a:t>
                      </a:r>
                    </a:p>
                    <a:p>
                      <a:endParaRPr lang="en-A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557861"/>
                  </a:ext>
                </a:extLst>
              </a:tr>
              <a:tr h="308210">
                <a:tc>
                  <a:txBody>
                    <a:bodyPr/>
                    <a:lstStyle/>
                    <a:p>
                      <a:r>
                        <a:rPr lang="en-AU" sz="1400" dirty="0"/>
                        <a:t>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0.8305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291751"/>
                  </a:ext>
                </a:extLst>
              </a:tr>
              <a:tr h="308210">
                <a:tc>
                  <a:txBody>
                    <a:bodyPr/>
                    <a:lstStyle/>
                    <a:p>
                      <a:r>
                        <a:rPr lang="en-AU" sz="14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27.75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0.8879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04755"/>
                  </a:ext>
                </a:extLst>
              </a:tr>
              <a:tr h="308210">
                <a:tc>
                  <a:txBody>
                    <a:bodyPr/>
                    <a:lstStyle/>
                    <a:p>
                      <a:r>
                        <a:rPr lang="en-AU" sz="1400" dirty="0"/>
                        <a:t>mild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23.98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29.96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0.9365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8524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46B631A-1E30-C917-3704-DA53FD973E08}"/>
              </a:ext>
            </a:extLst>
          </p:cNvPr>
          <p:cNvSpPr txBox="1"/>
          <p:nvPr/>
        </p:nvSpPr>
        <p:spPr>
          <a:xfrm>
            <a:off x="50292" y="3328416"/>
            <a:ext cx="90434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MPRNet</a:t>
            </a:r>
            <a:r>
              <a:rPr lang="en-US" sz="1400" dirty="0">
                <a:solidFill>
                  <a:schemeClr val="bg1"/>
                </a:solidFill>
              </a:rPr>
              <a:t> consistently improves PSNR by +4 to +5 dB across all motion types and blur intensity </a:t>
            </a:r>
            <a:r>
              <a:rPr lang="en-US" sz="1400" dirty="0" err="1">
                <a:solidFill>
                  <a:schemeClr val="bg1"/>
                </a:solidFill>
              </a:rPr>
              <a:t>tiers,confirming</a:t>
            </a:r>
            <a:r>
              <a:rPr lang="en-US" sz="1400" dirty="0">
                <a:solidFill>
                  <a:schemeClr val="bg1"/>
                </a:solidFill>
              </a:rPr>
              <a:t> robustness to real-world camera motion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Heavy blur benefits most from restoration — features completely destroyed by motion are successfully recovered by the learned model, while mild blur achieves the highest restored PSNR of 29.96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Classical methods failed on all these same conditions due to their uniform PSF assumption confirming deep learning is essential for spatially varying real-world motion deblurring</a:t>
            </a:r>
            <a:endParaRPr lang="en-A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02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BB60F0-A6C7-E2A3-F99A-81C100F494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2069" y="145557"/>
            <a:ext cx="1588120" cy="563103"/>
          </a:xfrm>
        </p:spPr>
        <p:txBody>
          <a:bodyPr>
            <a:noAutofit/>
          </a:bodyPr>
          <a:lstStyle/>
          <a:p>
            <a:r>
              <a:rPr lang="en-AU" sz="1800" dirty="0" err="1"/>
              <a:t>MPRNet</a:t>
            </a:r>
            <a:r>
              <a:rPr lang="en-AU" sz="1800" dirty="0"/>
              <a:t> Results (Visual)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3767C0-8F4E-DC0E-3BA1-962FD85C2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" y="738630"/>
            <a:ext cx="4557170" cy="22939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D8D335-F4BD-C732-848A-149C5C1A2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9" y="3007200"/>
            <a:ext cx="4612065" cy="1048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696C83-93FF-7EAD-5EB9-33E6DD2A3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871" y="764020"/>
            <a:ext cx="4383815" cy="22431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5534BB-C913-213D-20B9-0FB6AF974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870" y="3043931"/>
            <a:ext cx="4383815" cy="9912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ACC4596-3874-F828-AB78-4EF319EE0949}"/>
              </a:ext>
            </a:extLst>
          </p:cNvPr>
          <p:cNvSpPr txBox="1"/>
          <p:nvPr/>
        </p:nvSpPr>
        <p:spPr>
          <a:xfrm>
            <a:off x="242316" y="4274820"/>
            <a:ext cx="750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Visual improvement is clear across all conditions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747984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E6DF0D-BA96-ABDE-8781-EA0429A67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2797" y="172000"/>
            <a:ext cx="3135063" cy="669165"/>
          </a:xfrm>
        </p:spPr>
        <p:txBody>
          <a:bodyPr/>
          <a:lstStyle/>
          <a:p>
            <a:r>
              <a:rPr lang="en-US" sz="1800" dirty="0"/>
              <a:t>Task 3: Detection Results and Boundary </a:t>
            </a:r>
            <a:r>
              <a:rPr lang="en-US" sz="1800" dirty="0" err="1"/>
              <a:t>Visualisation</a:t>
            </a:r>
            <a:endParaRPr lang="en-AU" sz="1800" dirty="0">
              <a:latin typeface="Arial 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302C0F-1D70-A446-D751-D287E6488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042153"/>
              </p:ext>
            </p:extLst>
          </p:nvPr>
        </p:nvGraphicFramePr>
        <p:xfrm>
          <a:off x="74676" y="1001226"/>
          <a:ext cx="5827776" cy="16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944">
                  <a:extLst>
                    <a:ext uri="{9D8B030D-6E8A-4147-A177-3AD203B41FA5}">
                      <a16:colId xmlns:a16="http://schemas.microsoft.com/office/drawing/2014/main" val="2754752379"/>
                    </a:ext>
                  </a:extLst>
                </a:gridCol>
                <a:gridCol w="1456944">
                  <a:extLst>
                    <a:ext uri="{9D8B030D-6E8A-4147-A177-3AD203B41FA5}">
                      <a16:colId xmlns:a16="http://schemas.microsoft.com/office/drawing/2014/main" val="3048555179"/>
                    </a:ext>
                  </a:extLst>
                </a:gridCol>
                <a:gridCol w="1456944">
                  <a:extLst>
                    <a:ext uri="{9D8B030D-6E8A-4147-A177-3AD203B41FA5}">
                      <a16:colId xmlns:a16="http://schemas.microsoft.com/office/drawing/2014/main" val="1290753740"/>
                    </a:ext>
                  </a:extLst>
                </a:gridCol>
                <a:gridCol w="1456944">
                  <a:extLst>
                    <a:ext uri="{9D8B030D-6E8A-4147-A177-3AD203B41FA5}">
                      <a16:colId xmlns:a16="http://schemas.microsoft.com/office/drawing/2014/main" val="104612403"/>
                    </a:ext>
                  </a:extLst>
                </a:gridCol>
              </a:tblGrid>
              <a:tr h="414920">
                <a:tc>
                  <a:txBody>
                    <a:bodyPr/>
                    <a:lstStyle/>
                    <a:p>
                      <a:r>
                        <a:rPr lang="en-AU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AVG Det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AVG 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Zero Det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75915"/>
                  </a:ext>
                </a:extLst>
              </a:tr>
              <a:tr h="414920">
                <a:tc>
                  <a:txBody>
                    <a:bodyPr/>
                    <a:lstStyle/>
                    <a:p>
                      <a:r>
                        <a:rPr lang="en-AU" dirty="0"/>
                        <a:t>Blurred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0/50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377230"/>
                  </a:ext>
                </a:extLst>
              </a:tr>
              <a:tr h="414920">
                <a:tc>
                  <a:txBody>
                    <a:bodyPr/>
                    <a:lstStyle/>
                    <a:p>
                      <a:r>
                        <a:rPr lang="en-AU" dirty="0"/>
                        <a:t>Deblurred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0/50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893789"/>
                  </a:ext>
                </a:extLst>
              </a:tr>
              <a:tr h="414920">
                <a:tc>
                  <a:txBody>
                    <a:bodyPr/>
                    <a:lstStyle/>
                    <a:p>
                      <a:r>
                        <a:rPr lang="en-AU" dirty="0"/>
                        <a:t>Sharp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0.5777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0/50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99635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F6B39FC-E9B4-46F4-7DFC-C78916F10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" y="2820967"/>
            <a:ext cx="5753862" cy="23016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288C6A-8DEF-8AA3-F782-E7ABEDFA3982}"/>
              </a:ext>
            </a:extLst>
          </p:cNvPr>
          <p:cNvSpPr txBox="1"/>
          <p:nvPr/>
        </p:nvSpPr>
        <p:spPr>
          <a:xfrm>
            <a:off x="6048756" y="3063911"/>
            <a:ext cx="29626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Avg detections: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Blurred 13.58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Deblurred 17.20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Sharp 18.38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Avg confidence: 0.582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0.581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 0.578</a:t>
            </a:r>
            <a:endParaRPr lang="en-AU" sz="1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24843-22A8-79B7-D88D-06F73819E63E}"/>
              </a:ext>
            </a:extLst>
          </p:cNvPr>
          <p:cNvSpPr txBox="1"/>
          <p:nvPr/>
        </p:nvSpPr>
        <p:spPr>
          <a:xfrm>
            <a:off x="6131052" y="1001226"/>
            <a:ext cx="29192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Deblurring improved detections by +26.7%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Car: +40%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Bus: +240 latency%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Person: +13%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Inference identical: ~24ms</a:t>
            </a:r>
            <a:endParaRPr lang="en-A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69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941CC5-4FFF-8166-7B12-3EAC5F3CB3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77601" y="263440"/>
            <a:ext cx="3926019" cy="29248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Arial "/>
              </a:rPr>
              <a:t>Per-class Analysis and Failure Cases</a:t>
            </a:r>
            <a:endParaRPr lang="en-AU" sz="1800" dirty="0">
              <a:latin typeface="Arial 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10D77-79DD-7B4E-4B32-49800D821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770"/>
            <a:ext cx="6053328" cy="2016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CCFC9A-D84C-EB96-6F41-864708B22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" y="2628776"/>
            <a:ext cx="6053329" cy="24722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86B490-2260-98F5-6C63-10675D0C0C62}"/>
              </a:ext>
            </a:extLst>
          </p:cNvPr>
          <p:cNvSpPr txBox="1"/>
          <p:nvPr/>
        </p:nvSpPr>
        <p:spPr>
          <a:xfrm>
            <a:off x="6377940" y="973836"/>
            <a:ext cx="24825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This bar graph shows the per class distribution the highest being person and the lowest being truck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E6B85-1D6E-3535-1CDF-945ACFFF52E5}"/>
              </a:ext>
            </a:extLst>
          </p:cNvPr>
          <p:cNvSpPr txBox="1"/>
          <p:nvPr/>
        </p:nvSpPr>
        <p:spPr>
          <a:xfrm>
            <a:off x="6537961" y="3232404"/>
            <a:ext cx="2555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13/50 images (26%) showed significant detection failure under blur — deblurring recovered all cases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146933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11AA4E-4E44-7FE5-FE76-75D7D4F748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1901" y="149140"/>
            <a:ext cx="2965899" cy="490940"/>
          </a:xfrm>
        </p:spPr>
        <p:txBody>
          <a:bodyPr/>
          <a:lstStyle/>
          <a:p>
            <a:r>
              <a:rPr lang="en-US" sz="1600" dirty="0">
                <a:latin typeface="Arial "/>
              </a:rPr>
              <a:t>Task 4: Dataset Preparation and Training</a:t>
            </a:r>
            <a:endParaRPr lang="en-AU" sz="1600" dirty="0">
              <a:latin typeface="Arial 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6151E-6753-C47C-A4BB-846D1997DF98}"/>
              </a:ext>
            </a:extLst>
          </p:cNvPr>
          <p:cNvSpPr txBox="1"/>
          <p:nvPr/>
        </p:nvSpPr>
        <p:spPr>
          <a:xfrm>
            <a:off x="0" y="1167634"/>
            <a:ext cx="42291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bg1"/>
                </a:solidFill>
              </a:rPr>
              <a:t> </a:t>
            </a:r>
            <a:r>
              <a:rPr lang="en-AU" sz="1400" dirty="0">
                <a:solidFill>
                  <a:schemeClr val="bg1"/>
                </a:solidFill>
              </a:rPr>
              <a:t>Dataset Construction: - Source GoPro train split (2103 pairs)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No overlap with test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zero data leakage - 600 images stratified across blur tiers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Heavy: 200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Medium: 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Mild: 200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Auto-annotated using YOLOv8m on deblurred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Augmented: brightness jitter + horizontal flip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Final: 1191 training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chemeClr val="bg1"/>
                </a:solidFill>
              </a:rPr>
              <a:t>Split: 420 train / 81 </a:t>
            </a:r>
            <a:r>
              <a:rPr lang="en-AU" sz="1400" dirty="0" err="1">
                <a:solidFill>
                  <a:schemeClr val="bg1"/>
                </a:solidFill>
              </a:rPr>
              <a:t>val</a:t>
            </a:r>
            <a:r>
              <a:rPr lang="en-AU" sz="1400" dirty="0">
                <a:solidFill>
                  <a:schemeClr val="bg1"/>
                </a:solidFill>
              </a:rPr>
              <a:t> / 86 test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B1493-A20D-3862-EAA0-9DDB3F7C86AE}"/>
              </a:ext>
            </a:extLst>
          </p:cNvPr>
          <p:cNvSpPr txBox="1"/>
          <p:nvPr/>
        </p:nvSpPr>
        <p:spPr>
          <a:xfrm>
            <a:off x="3950208" y="4487689"/>
            <a:ext cx="459028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Results Best mAP50 (</a:t>
            </a:r>
            <a:r>
              <a:rPr lang="en-US" sz="1050" dirty="0" err="1">
                <a:solidFill>
                  <a:schemeClr val="bg1"/>
                </a:solidFill>
              </a:rPr>
              <a:t>val</a:t>
            </a:r>
            <a:r>
              <a:rPr lang="en-US" sz="1050" dirty="0">
                <a:solidFill>
                  <a:schemeClr val="bg1"/>
                </a:solidFill>
              </a:rPr>
              <a:t>): 0.590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mAP50 (test): 0.581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Precision: 0.743 Recall: 0.403</a:t>
            </a:r>
            <a:endParaRPr lang="en-AU" sz="105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988E96-B45B-B1D4-438B-B702995F6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798084"/>
            <a:ext cx="5090286" cy="360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5541B5-5F61-EF65-047E-220DBF3A12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6745" y="135424"/>
            <a:ext cx="3039051" cy="472652"/>
          </a:xfrm>
        </p:spPr>
        <p:txBody>
          <a:bodyPr>
            <a:normAutofit/>
          </a:bodyPr>
          <a:lstStyle/>
          <a:p>
            <a:r>
              <a:rPr lang="en-AU" sz="1800" dirty="0"/>
              <a:t>Task 5: Comprehensive Comparison</a:t>
            </a:r>
            <a:endParaRPr lang="en-AU" sz="1800" dirty="0">
              <a:latin typeface="Arial 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6726B-A72D-4341-B1B1-83DB7D7D4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940"/>
            <a:ext cx="5231271" cy="448056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3513FD-A847-6BC6-1D09-6A1A9AAB8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742009"/>
              </p:ext>
            </p:extLst>
          </p:nvPr>
        </p:nvGraphicFramePr>
        <p:xfrm>
          <a:off x="5340095" y="767932"/>
          <a:ext cx="3835909" cy="2899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053">
                  <a:extLst>
                    <a:ext uri="{9D8B030D-6E8A-4147-A177-3AD203B41FA5}">
                      <a16:colId xmlns:a16="http://schemas.microsoft.com/office/drawing/2014/main" val="4014497844"/>
                    </a:ext>
                  </a:extLst>
                </a:gridCol>
                <a:gridCol w="1485108">
                  <a:extLst>
                    <a:ext uri="{9D8B030D-6E8A-4147-A177-3AD203B41FA5}">
                      <a16:colId xmlns:a16="http://schemas.microsoft.com/office/drawing/2014/main" val="3953842948"/>
                    </a:ext>
                  </a:extLst>
                </a:gridCol>
                <a:gridCol w="862748">
                  <a:extLst>
                    <a:ext uri="{9D8B030D-6E8A-4147-A177-3AD203B41FA5}">
                      <a16:colId xmlns:a16="http://schemas.microsoft.com/office/drawing/2014/main" val="468612807"/>
                    </a:ext>
                  </a:extLst>
                </a:gridCol>
              </a:tblGrid>
              <a:tr h="264578">
                <a:tc>
                  <a:txBody>
                    <a:bodyPr/>
                    <a:lstStyle/>
                    <a:p>
                      <a:r>
                        <a:rPr lang="en-AU" sz="16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AVG Det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AVG Conf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029069"/>
                  </a:ext>
                </a:extLst>
              </a:tr>
              <a:tr h="330872">
                <a:tc>
                  <a:txBody>
                    <a:bodyPr/>
                    <a:lstStyle/>
                    <a:p>
                      <a:r>
                        <a:rPr lang="en-AU" sz="1050" dirty="0"/>
                        <a:t>Baseline- Blurred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067716"/>
                  </a:ext>
                </a:extLst>
              </a:tr>
              <a:tr h="516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dirty="0"/>
                        <a:t>Baseli</a:t>
                      </a:r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AU" sz="1050" dirty="0"/>
                        <a:t>e- Deblurred</a:t>
                      </a:r>
                    </a:p>
                    <a:p>
                      <a:endParaRPr lang="en-AU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508758"/>
                  </a:ext>
                </a:extLst>
              </a:tr>
              <a:tr h="571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dirty="0"/>
                        <a:t>Baseline- Sharp</a:t>
                      </a:r>
                    </a:p>
                    <a:p>
                      <a:endParaRPr lang="en-AU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097387"/>
                  </a:ext>
                </a:extLst>
              </a:tr>
              <a:tr h="330872">
                <a:tc>
                  <a:txBody>
                    <a:bodyPr/>
                    <a:lstStyle/>
                    <a:p>
                      <a:r>
                        <a:rPr lang="en-AU" sz="1050" dirty="0"/>
                        <a:t>Finetuned- Blurred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523248"/>
                  </a:ext>
                </a:extLst>
              </a:tr>
              <a:tr h="571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50" dirty="0"/>
                        <a:t>Finetuned- Blurred</a:t>
                      </a:r>
                    </a:p>
                    <a:p>
                      <a:endParaRPr lang="en-AU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0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27398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D3D38A-5974-2B19-DEE5-0F9DD1557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13769"/>
              </p:ext>
            </p:extLst>
          </p:nvPr>
        </p:nvGraphicFramePr>
        <p:xfrm>
          <a:off x="5340097" y="3674456"/>
          <a:ext cx="3858768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899">
                  <a:extLst>
                    <a:ext uri="{9D8B030D-6E8A-4147-A177-3AD203B41FA5}">
                      <a16:colId xmlns:a16="http://schemas.microsoft.com/office/drawing/2014/main" val="7034145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299014694"/>
                    </a:ext>
                  </a:extLst>
                </a:gridCol>
                <a:gridCol w="886969">
                  <a:extLst>
                    <a:ext uri="{9D8B030D-6E8A-4147-A177-3AD203B41FA5}">
                      <a16:colId xmlns:a16="http://schemas.microsoft.com/office/drawing/2014/main" val="3389526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Finetuned- Blurred</a:t>
                      </a:r>
                    </a:p>
                    <a:p>
                      <a:pPr marL="0" algn="l" defTabSz="914400" rtl="0" eaLnBrk="1" latinLnBrk="0" hangingPunct="1"/>
                      <a:endParaRPr lang="en-AU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AU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AU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702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984483A-9839-4779-999D-6966C379065F}"/>
              </a:ext>
            </a:extLst>
          </p:cNvPr>
          <p:cNvSpPr txBox="1"/>
          <p:nvPr/>
        </p:nvSpPr>
        <p:spPr>
          <a:xfrm>
            <a:off x="5422392" y="4127837"/>
            <a:ext cx="35615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Key insights: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Deblurring: +26.7% baseline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+37% finetuned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Finetuned model: higher confidence +0.09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Statistical significance: p=0.039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207051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C1567F-FD24-304D-E80A-D38E90AD70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753" y="98848"/>
            <a:ext cx="3367605" cy="731294"/>
          </a:xfrm>
        </p:spPr>
        <p:txBody>
          <a:bodyPr/>
          <a:lstStyle/>
          <a:p>
            <a:r>
              <a:rPr lang="en-US" sz="1800" dirty="0">
                <a:latin typeface="Arial "/>
              </a:rPr>
              <a:t>PR Curves and Per-class Comparison</a:t>
            </a:r>
            <a:endParaRPr lang="en-AU" sz="1800" dirty="0">
              <a:latin typeface="Arial 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F935F-E43A-A7DC-6630-46F1D2000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500"/>
            <a:ext cx="6071616" cy="1992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9326E2-1F34-82B5-3A18-22686D8F6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33367"/>
            <a:ext cx="6071616" cy="2046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4638F4-621A-922B-C02D-F0B5594A7E75}"/>
              </a:ext>
            </a:extLst>
          </p:cNvPr>
          <p:cNvSpPr txBox="1"/>
          <p:nvPr/>
        </p:nvSpPr>
        <p:spPr>
          <a:xfrm>
            <a:off x="6153912" y="3033367"/>
            <a:ext cx="29900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PR Curve: mAP50 = 0.590 | F1 Peak: 0.43 at confidence 0.290 | Failure cases: 13/50 (26%)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Statistical significance: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Blurred vs Deblurred: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p = 0.000 — highly significant improvement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Baseline vs Finetuned: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>
                <a:solidFill>
                  <a:schemeClr val="bg1"/>
                </a:solidFill>
              </a:rPr>
              <a:t>p = 0.039 — statistically significant difference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76917-D564-5E05-19C7-8885E23C0C87}"/>
              </a:ext>
            </a:extLst>
          </p:cNvPr>
          <p:cNvSpPr txBox="1"/>
          <p:nvPr/>
        </p:nvSpPr>
        <p:spPr>
          <a:xfrm>
            <a:off x="6153912" y="935500"/>
            <a:ext cx="29306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Per-class analysis: Fine-tuned model detects significantly more persons (+32%) </a:t>
            </a:r>
          </a:p>
          <a:p>
            <a:r>
              <a:rPr lang="en-US" sz="1400" dirty="0">
                <a:solidFill>
                  <a:schemeClr val="bg1"/>
                </a:solidFill>
              </a:rPr>
              <a:t>but baseline detects more cars — evidence of class imbalance in training data</a:t>
            </a:r>
            <a:endParaRPr lang="en-A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735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73D0E1-BA33-389B-733C-1DC18B2F9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5033" y="185596"/>
            <a:ext cx="3500823" cy="468080"/>
          </a:xfrm>
        </p:spPr>
        <p:txBody>
          <a:bodyPr>
            <a:normAutofit/>
          </a:bodyPr>
          <a:lstStyle/>
          <a:p>
            <a:r>
              <a:rPr lang="en-AU" sz="1800" dirty="0">
                <a:latin typeface="Arial "/>
              </a:rPr>
              <a:t>Critical Analysis and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01720-2DDE-AC48-CA30-53FC8F35A2AB}"/>
              </a:ext>
            </a:extLst>
          </p:cNvPr>
          <p:cNvSpPr txBox="1"/>
          <p:nvPr/>
        </p:nvSpPr>
        <p:spPr>
          <a:xfrm>
            <a:off x="118872" y="813816"/>
            <a:ext cx="3172968" cy="2167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4241C-A9ED-3B64-4149-FC3818801A83}"/>
              </a:ext>
            </a:extLst>
          </p:cNvPr>
          <p:cNvSpPr txBox="1"/>
          <p:nvPr/>
        </p:nvSpPr>
        <p:spPr>
          <a:xfrm>
            <a:off x="379476" y="928116"/>
            <a:ext cx="31729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Detection improved by +26.7%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Statistically confirmed p=0.039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additional inference latency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Consistent across all blur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Fine-tuning adds confidence +0.09</a:t>
            </a:r>
            <a:endParaRPr lang="en-AU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BD9F4-4098-1956-D082-C0B285816FFA}"/>
              </a:ext>
            </a:extLst>
          </p:cNvPr>
          <p:cNvSpPr txBox="1"/>
          <p:nvPr/>
        </p:nvSpPr>
        <p:spPr>
          <a:xfrm>
            <a:off x="4892040" y="811119"/>
            <a:ext cx="3125919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GoPro specific — limited </a:t>
            </a:r>
            <a:r>
              <a:rPr lang="en-US" sz="1400" dirty="0" err="1"/>
              <a:t>generalisation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Auto-annotation introduces label noise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Class imbalance: person/car dominate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MPRNet</a:t>
            </a:r>
            <a:r>
              <a:rPr lang="en-US" sz="1400" dirty="0"/>
              <a:t> adds ~5s per image  Not suitable for real-time use</a:t>
            </a:r>
            <a:endParaRPr lang="en-AU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D7EC67-B53F-C6DF-A1FA-E896DFE74471}"/>
              </a:ext>
            </a:extLst>
          </p:cNvPr>
          <p:cNvSpPr txBox="1"/>
          <p:nvPr/>
        </p:nvSpPr>
        <p:spPr>
          <a:xfrm>
            <a:off x="443484" y="3067812"/>
            <a:ext cx="339699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Future Improvements: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Manual annotation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Multiple camera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End-to-end joint training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2103 training pairs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Lightweight deblurring model</a:t>
            </a:r>
            <a:endParaRPr lang="en-A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770BD-2122-D806-7E77-272C7D4C2A79}"/>
              </a:ext>
            </a:extLst>
          </p:cNvPr>
          <p:cNvSpPr txBox="1"/>
          <p:nvPr/>
        </p:nvSpPr>
        <p:spPr>
          <a:xfrm>
            <a:off x="4978908" y="2948940"/>
            <a:ext cx="330098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Key Takeaways: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/>
              <a:t>Classical deblurring fails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/>
              <a:t>deep learning essential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 err="1"/>
              <a:t>MPRNet</a:t>
            </a:r>
            <a:r>
              <a:rPr lang="en-AU" sz="1200" dirty="0"/>
              <a:t>: +4.27 dB PSNR across 1111 test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/>
              <a:t>Deblurring improves detection by up to +37%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/>
              <a:t> Fine-tuned model statistically significant p=0.039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200" dirty="0"/>
              <a:t>Complete end-to-end pipeline demonstrated</a:t>
            </a:r>
          </a:p>
        </p:txBody>
      </p:sp>
    </p:spTree>
    <p:extLst>
      <p:ext uri="{BB962C8B-B14F-4D97-AF65-F5344CB8AC3E}">
        <p14:creationId xmlns:p14="http://schemas.microsoft.com/office/powerpoint/2010/main" val="73492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3AB9EE-73DC-318F-4A3E-B6647EA4F119}"/>
              </a:ext>
            </a:extLst>
          </p:cNvPr>
          <p:cNvSpPr txBox="1"/>
          <p:nvPr/>
        </p:nvSpPr>
        <p:spPr>
          <a:xfrm>
            <a:off x="2958084" y="2148733"/>
            <a:ext cx="5445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3029383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AU Content Slides – Light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5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utureUni-ppt-v3-unisafirst" id="{0909A0E1-65ED-AB4D-A92D-8D3B4BFBABA5}" vid="{3FB9D24C-E0CF-D645-8833-E63CD4B64D83}"/>
    </a:ext>
  </a:extLst>
</a:theme>
</file>

<file path=ppt/theme/theme2.xml><?xml version="1.0" encoding="utf-8"?>
<a:theme xmlns:a="http://schemas.openxmlformats.org/drawingml/2006/main" name="AU Content Slides – Dark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5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utureUni-ppt-v3-unisafirst" id="{0909A0E1-65ED-AB4D-A92D-8D3B4BFBABA5}" vid="{3FB9D24C-E0CF-D645-8833-E63CD4B64D83}"/>
    </a:ext>
  </a:extLst>
</a:theme>
</file>

<file path=ppt/theme/theme3.xml><?xml version="1.0" encoding="utf-8"?>
<a:theme xmlns:a="http://schemas.openxmlformats.org/drawingml/2006/main" name="AU Cover Slides - Light">
  <a:themeElements>
    <a:clrScheme name="AU Working v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9883FF"/>
      </a:accent3>
      <a:accent4>
        <a:srgbClr val="C1B5FF"/>
      </a:accent4>
      <a:accent5>
        <a:srgbClr val="8AA3FF"/>
      </a:accent5>
      <a:accent6>
        <a:srgbClr val="D0DAFF"/>
      </a:accent6>
      <a:hlink>
        <a:srgbClr val="113CD5"/>
      </a:hlink>
      <a:folHlink>
        <a:srgbClr val="3B67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Cover Slides - Dark">
  <a:themeElements>
    <a:clrScheme name="Custom 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f5d640-ba26-46f9-8024-69a28b53b42d" xsi:nil="true"/>
    <lcf76f155ced4ddcb4097134ff3c332f xmlns="2d1024ab-11f5-49b8-a28a-56ba73c36ff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117B05CE81D4B82AC7E0ECEEE001B" ma:contentTypeVersion="14" ma:contentTypeDescription="Create a new document." ma:contentTypeScope="" ma:versionID="86b6b47a4382aa62c5805a5cd4e35bd4">
  <xsd:schema xmlns:xsd="http://www.w3.org/2001/XMLSchema" xmlns:xs="http://www.w3.org/2001/XMLSchema" xmlns:p="http://schemas.microsoft.com/office/2006/metadata/properties" xmlns:ns2="2d1024ab-11f5-49b8-a28a-56ba73c36ff9" xmlns:ns3="7bf5d640-ba26-46f9-8024-69a28b53b42d" targetNamespace="http://schemas.microsoft.com/office/2006/metadata/properties" ma:root="true" ma:fieldsID="796dacfc8fe3b72e8a31ec38fb670b4a" ns2:_="" ns3:_="">
    <xsd:import namespace="2d1024ab-11f5-49b8-a28a-56ba73c36ff9"/>
    <xsd:import namespace="7bf5d640-ba26-46f9-8024-69a28b53b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1024ab-11f5-49b8-a28a-56ba73c36f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7c634a6-047e-483d-88d5-be468d6f43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d640-ba26-46f9-8024-69a28b53b42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acc35d2-c5ac-4be0-85ed-728b08b9b0d0}" ma:internalName="TaxCatchAll" ma:showField="CatchAllData" ma:web="7bf5d640-ba26-46f9-8024-69a28b53b4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7E2344-784A-409B-85B7-EAA575FD6CAC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0a08f58f-610f-455f-9949-82fcb626654f"/>
    <ds:schemaRef ds:uri="7bf5d640-ba26-46f9-8024-69a28b53b42d"/>
    <ds:schemaRef ds:uri="2d1024ab-11f5-49b8-a28a-56ba73c36ff9"/>
  </ds:schemaRefs>
</ds:datastoreItem>
</file>

<file path=customXml/itemProps2.xml><?xml version="1.0" encoding="utf-8"?>
<ds:datastoreItem xmlns:ds="http://schemas.openxmlformats.org/officeDocument/2006/customXml" ds:itemID="{E6AF67D7-60D9-4848-B81A-18ED54C7E9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1024ab-11f5-49b8-a28a-56ba73c36ff9"/>
    <ds:schemaRef ds:uri="7bf5d640-ba26-46f9-8024-69a28b53b4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011804-D555-4DB4-9A94-73C332BD3E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9403</TotalTime>
  <Words>701</Words>
  <Application>Microsoft Office PowerPoint</Application>
  <PresentationFormat>On-screen Show (16:9)</PresentationFormat>
  <Paragraphs>177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 </vt:lpstr>
      <vt:lpstr>Franklin Gothic Demi Cond</vt:lpstr>
      <vt:lpstr>Franklin Gothic Medium Cond</vt:lpstr>
      <vt:lpstr>Georgia</vt:lpstr>
      <vt:lpstr>Wingdings</vt:lpstr>
      <vt:lpstr>AU Content Slides – Light</vt:lpstr>
      <vt:lpstr>AU Content Slides – Dark</vt:lpstr>
      <vt:lpstr>AU Cover Slides - Light</vt:lpstr>
      <vt:lpstr>Cover Slides - Dark</vt:lpstr>
      <vt:lpstr>ARTI 6001: Computer Vision and Multimodal Machine Leraning</vt:lpstr>
      <vt:lpstr>Content:  -Problem: Motion blur degrades detection performance  - Dataset: GoPro official split — 1111 test, 2103 train  - No data leakage between train and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Trepa</dc:creator>
  <cp:lastModifiedBy>Christo Joshy (Student)</cp:lastModifiedBy>
  <cp:revision>405</cp:revision>
  <cp:lastPrinted>2011-11-18T03:36:14Z</cp:lastPrinted>
  <dcterms:created xsi:type="dcterms:W3CDTF">2024-06-05T01:45:42Z</dcterms:created>
  <dcterms:modified xsi:type="dcterms:W3CDTF">2026-04-01T12:15:16Z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0x010100A8E117B05CE81D4B82AC7E0ECEEE001B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2023-12-11T23:57:33Z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9d960d3e-eac6-4a65-b196-bc93f9e23fbe</vt:lpwstr>
  </property>
  <property fmtid="{D5CDD505-2E9C-101B-9397-08002B2CF9AE}" pid="9" name="MSIP_Label_ea60d57e-af5b-4752-ac57-3e4f28ca11dc_ContentBits">
    <vt:lpwstr>0</vt:lpwstr>
  </property>
</Properties>
</file>